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05156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55448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05740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6" name="Shape 4"/>
          <p:cNvSpPr/>
          <p:nvPr/>
        </p:nvSpPr>
        <p:spPr>
          <a:xfrm>
            <a:off x="9281160" y="54864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7" name="Shape 5"/>
          <p:cNvSpPr/>
          <p:nvPr/>
        </p:nvSpPr>
        <p:spPr>
          <a:xfrm>
            <a:off x="9281160" y="105156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8" name="Shape 6"/>
          <p:cNvSpPr/>
          <p:nvPr/>
        </p:nvSpPr>
        <p:spPr>
          <a:xfrm>
            <a:off x="9281160" y="155448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9" name="Shape 7"/>
          <p:cNvSpPr/>
          <p:nvPr/>
        </p:nvSpPr>
        <p:spPr>
          <a:xfrm>
            <a:off x="9281160" y="205740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10" name="Shape 8"/>
          <p:cNvSpPr/>
          <p:nvPr/>
        </p:nvSpPr>
        <p:spPr>
          <a:xfrm>
            <a:off x="9784080" y="54864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11" name="Shape 9"/>
          <p:cNvSpPr/>
          <p:nvPr/>
        </p:nvSpPr>
        <p:spPr>
          <a:xfrm>
            <a:off x="9784080" y="105156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12" name="Shape 10"/>
          <p:cNvSpPr/>
          <p:nvPr/>
        </p:nvSpPr>
        <p:spPr>
          <a:xfrm>
            <a:off x="9784080" y="155448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13" name="Shape 11"/>
          <p:cNvSpPr/>
          <p:nvPr/>
        </p:nvSpPr>
        <p:spPr>
          <a:xfrm>
            <a:off x="9784080" y="205740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87000" y="54864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87000" y="105156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87000" y="155448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87000" y="205740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89920" y="54864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89920" y="105156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89920" y="155448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89920" y="205740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92840" y="54864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92840" y="105156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92840" y="155448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92840" y="2057400"/>
            <a:ext cx="45720" cy="45720"/>
          </a:xfrm>
          <a:prstGeom prst="ellipse">
            <a:avLst/>
          </a:prstGeom>
          <a:solidFill>
            <a:srgbClr val="323A7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 PROJECT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UART Transmitter</a:t>
            </a:r>
            <a:endParaRPr lang="en-US" sz="5400" dirty="0"/>
          </a:p>
        </p:txBody>
      </p:sp>
      <p:sp>
        <p:nvSpPr>
          <p:cNvPr id="28" name="Text 26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FSM-Driven Serial Transmitter in Verilog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5A6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1 0 1 0 0 1 0 1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074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   •   Parity Generator   •   Output Mux   •   Control FSM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161288"/>
          </a:xfrm>
          <a:prstGeom prst="roundRect">
            <a:avLst>
              <a:gd name="adj" fmla="val 6299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191109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C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19293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Basics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27685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UART frames data over a single serial wire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49240" cy="1161288"/>
          </a:xfrm>
          <a:prstGeom prst="roundRect">
            <a:avLst>
              <a:gd name="adj" fmla="val 6299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02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19088" y="191109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C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269480" y="19293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69480" y="227685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module and signal interconnect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49240" cy="1161288"/>
          </a:xfrm>
          <a:prstGeom prst="roundRect">
            <a:avLst>
              <a:gd name="adj" fmla="val 6299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37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49808" y="332841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C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00200" y="33467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Deep-Dive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369417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Serializer, parity generator, and output mux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200400"/>
            <a:ext cx="5349240" cy="1161288"/>
          </a:xfrm>
          <a:prstGeom prst="roundRect">
            <a:avLst>
              <a:gd name="adj" fmla="val 6299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3375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19088" y="332841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C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269480" y="33467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FSM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69480" y="369417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machine that sequences every bit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349240" cy="1161288"/>
          </a:xfrm>
          <a:prstGeom prst="roundRect">
            <a:avLst>
              <a:gd name="adj" fmla="val 6299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754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9808" y="474573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C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600200" y="47640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00200" y="511149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 strategy and simulation results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617720"/>
            <a:ext cx="5349240" cy="1161288"/>
          </a:xfrm>
          <a:prstGeom prst="roundRect">
            <a:avLst>
              <a:gd name="adj" fmla="val 6299"/>
            </a:avLst>
          </a:prstGeom>
          <a:solidFill>
            <a:srgbClr val="F4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4754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419088" y="474573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CE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269480" y="47640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69480" y="5111496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and possible extensions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TRANSMITTER — RTL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UART Frame Is Built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(Universal Asynchronous Receiver/Transmitter) sends data one bit at a time over a single wire, with no shared clock between sender and receiver. Timing is agreed on in advance, and every frame follows the same fixed shape.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051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8950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7355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high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0200" y="2743200"/>
            <a:ext cx="141732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88950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32735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 · 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2743200"/>
            <a:ext cx="2834640" cy="1051560"/>
          </a:xfrm>
          <a:prstGeom prst="rect">
            <a:avLst/>
          </a:prstGeom>
          <a:solidFill>
            <a:srgbClr val="00D9C0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288950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273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 · LSB first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2743200"/>
            <a:ext cx="1600200" cy="1051560"/>
          </a:xfrm>
          <a:prstGeom prst="rect">
            <a:avLst/>
          </a:prstGeom>
          <a:solidFill>
            <a:srgbClr val="8E97D6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288950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32735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 · optional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52360" y="2743200"/>
            <a:ext cx="141732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288950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360" y="3273552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bit · 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69680" y="2743200"/>
            <a:ext cx="1051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288950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0" y="327355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high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743200"/>
            <a:ext cx="0" cy="10515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00200" y="2743200"/>
            <a:ext cx="0" cy="10515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2743200"/>
            <a:ext cx="0" cy="10515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2743200"/>
            <a:ext cx="0" cy="10515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52360" y="2743200"/>
            <a:ext cx="0" cy="10515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0" y="2743200"/>
            <a:ext cx="0" cy="10515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21240" y="2743200"/>
            <a:ext cx="0" cy="105156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frame length: 10–11 bits per byte, depending on whether parity is enabled.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109728" cy="109728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22452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High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rests at logic 1 between frames — this design's mux drives 1 by default (sel = 2'b11).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846320"/>
            <a:ext cx="109728" cy="109728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72744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Bit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falling edge to 0 tells the receiver a new byte is coming and syncs its sample clock.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109728" cy="109728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23036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LSB-First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serializer shifts p_data right, so bit 0 is transmitted before bit 7.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TRANSMITTER — RTL DESIGN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Block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4160520"/>
          </a:xfrm>
          <a:prstGeom prst="roundRect">
            <a:avLst>
              <a:gd name="adj" fmla="val 1758"/>
            </a:avLst>
          </a:prstGeom>
          <a:solidFill>
            <a:srgbClr val="F4F6FC"/>
          </a:solidFill>
          <a:ln w="12700">
            <a:solidFill>
              <a:srgbClr val="D6D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uart_tx_top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237744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50545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34440" y="28346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Parallel-to-serial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register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94760" y="237744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434C8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94760" y="250545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86200" y="28346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/ odd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generator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46520" y="237744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00D9C0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50545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37960" y="28346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logic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98280" y="2377440"/>
            <a:ext cx="2148840" cy="1417320"/>
          </a:xfrm>
          <a:prstGeom prst="roundRect">
            <a:avLst>
              <a:gd name="adj" fmla="val 3871"/>
            </a:avLst>
          </a:prstGeom>
          <a:solidFill>
            <a:srgbClr val="434C8C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98280" y="250545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189720" y="2834640"/>
            <a:ext cx="1965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 output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20940" y="2057400"/>
            <a:ext cx="0" cy="320040"/>
          </a:xfrm>
          <a:prstGeom prst="line">
            <a:avLst/>
          </a:prstGeom>
          <a:noFill/>
          <a:ln w="15875">
            <a:solidFill>
              <a:srgbClr val="1E276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217420" y="2057400"/>
            <a:ext cx="530352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217420" y="2057400"/>
            <a:ext cx="0" cy="320040"/>
          </a:xfrm>
          <a:prstGeom prst="line">
            <a:avLst/>
          </a:prstGeom>
          <a:noFill/>
          <a:ln w="15875">
            <a:solidFill>
              <a:srgbClr val="1E276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520940" y="2057400"/>
            <a:ext cx="265176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0172700" y="2057400"/>
            <a:ext cx="0" cy="320040"/>
          </a:xfrm>
          <a:prstGeom prst="line">
            <a:avLst/>
          </a:prstGeom>
          <a:noFill/>
          <a:ln w="15875">
            <a:solidFill>
              <a:srgbClr val="1E2761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143000" y="1764792"/>
            <a:ext cx="10104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load_en / shift_en / sel  (control signals)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17420" y="3794760"/>
            <a:ext cx="0" cy="256032"/>
          </a:xfrm>
          <a:prstGeom prst="line">
            <a:avLst/>
          </a:prstGeom>
          <a:noFill/>
          <a:ln w="19050">
            <a:solidFill>
              <a:srgbClr val="8892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17420" y="4069080"/>
            <a:ext cx="7955280" cy="0"/>
          </a:xfrm>
          <a:prstGeom prst="line">
            <a:avLst/>
          </a:prstGeom>
          <a:noFill/>
          <a:ln w="19050">
            <a:solidFill>
              <a:srgbClr val="8892C7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143000" y="41148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ser_data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69180" y="3794760"/>
            <a:ext cx="0" cy="502920"/>
          </a:xfrm>
          <a:prstGeom prst="line">
            <a:avLst/>
          </a:prstGeom>
          <a:noFill/>
          <a:ln w="19050">
            <a:solidFill>
              <a:srgbClr val="8892C7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794760" y="43251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parity_out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172700" y="3794760"/>
            <a:ext cx="0" cy="32004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9624060" y="41239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tx_out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" y="516636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Inputs:  </a:t>
            </a:r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clk, rst, valid_in, p_data[7:0], parity_en, parity_bit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8680" y="546811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Outputs:  </a:t>
            </a:r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tx_out (serial line), busy (transmit-in-progress flag)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TRANSMITTER — RTL DESIGN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FSM — the Sequencer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5-state Moore-ish machine drives every other block. It asserts load_en to latch new data, shift_en to advance the serializer, sel to steer the mux, and busy so the sender knows when the line is free.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2560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825496"/>
            <a:ext cx="5577840" cy="420624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80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 (Idle)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880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sel=11, busy=0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28803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valid_in → load_en=1, go to START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sel=00 (drive 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33375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→ DATA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739896"/>
            <a:ext cx="5577840" cy="420624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794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sel=01, shift_en=1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37947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8x, then → PARITY or STOP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4251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sel=10 (drive parity)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42519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→ STOP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654296"/>
            <a:ext cx="5577840" cy="420624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709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4709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sel=11 (drive 1)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47091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→ S0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21240" y="1554480"/>
            <a:ext cx="1737360" cy="566928"/>
          </a:xfrm>
          <a:prstGeom prst="roundRect">
            <a:avLst>
              <a:gd name="adj" fmla="val 51613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921240" y="15544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789920" y="2121408"/>
            <a:ext cx="0" cy="347472"/>
          </a:xfrm>
          <a:prstGeom prst="line">
            <a:avLst/>
          </a:prstGeom>
          <a:noFill/>
          <a:ln w="19050">
            <a:solidFill>
              <a:srgbClr val="6B729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921240" y="2468880"/>
            <a:ext cx="1737360" cy="566928"/>
          </a:xfrm>
          <a:prstGeom prst="roundRect">
            <a:avLst>
              <a:gd name="adj" fmla="val 51613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921240" y="24688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789920" y="3035808"/>
            <a:ext cx="0" cy="347472"/>
          </a:xfrm>
          <a:prstGeom prst="line">
            <a:avLst/>
          </a:prstGeom>
          <a:noFill/>
          <a:ln w="19050">
            <a:solidFill>
              <a:srgbClr val="6B72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921240" y="3383280"/>
            <a:ext cx="1737360" cy="566928"/>
          </a:xfrm>
          <a:prstGeom prst="roundRect">
            <a:avLst>
              <a:gd name="adj" fmla="val 51613"/>
            </a:avLst>
          </a:prstGeom>
          <a:solidFill>
            <a:srgbClr val="00D9C0"/>
          </a:solidFill>
          <a:ln/>
        </p:spPr>
      </p:sp>
      <p:sp>
        <p:nvSpPr>
          <p:cNvPr id="33" name="Text 31"/>
          <p:cNvSpPr/>
          <p:nvPr/>
        </p:nvSpPr>
        <p:spPr>
          <a:xfrm>
            <a:off x="9921240" y="33832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789920" y="3950208"/>
            <a:ext cx="0" cy="347472"/>
          </a:xfrm>
          <a:prstGeom prst="line">
            <a:avLst/>
          </a:prstGeom>
          <a:noFill/>
          <a:ln w="19050">
            <a:solidFill>
              <a:srgbClr val="6B729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921240" y="4297680"/>
            <a:ext cx="1737360" cy="566928"/>
          </a:xfrm>
          <a:prstGeom prst="roundRect">
            <a:avLst>
              <a:gd name="adj" fmla="val 51613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9921240" y="42976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789920" y="4864608"/>
            <a:ext cx="0" cy="347472"/>
          </a:xfrm>
          <a:prstGeom prst="line">
            <a:avLst/>
          </a:prstGeom>
          <a:noFill/>
          <a:ln w="19050">
            <a:solidFill>
              <a:srgbClr val="6B729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921240" y="5212080"/>
            <a:ext cx="1737360" cy="566928"/>
          </a:xfrm>
          <a:prstGeom prst="roundRect">
            <a:avLst>
              <a:gd name="adj" fmla="val 51613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9921240" y="521208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704320" y="35295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658600" y="3666744"/>
            <a:ext cx="365760" cy="0"/>
          </a:xfrm>
          <a:prstGeom prst="line">
            <a:avLst/>
          </a:prstGeom>
          <a:noFill/>
          <a:ln w="15875">
            <a:solidFill>
              <a:srgbClr val="6B7290"/>
            </a:solidFill>
            <a:prstDash val="dash"/>
            <a:headEnd type="triangl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TRANSMITTER — RTL DESIGN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Serializer &amp; Parity Generator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84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8-bit shift register performs parallel-to-serial conversion. load_en captures p_data in parallel; shift_en shifts it right one bit per DATA-state clock, exposing bit 0 on ser_data.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457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35024" y="3749040"/>
            <a:ext cx="457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35024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47088" y="3749040"/>
            <a:ext cx="457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47088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59152" y="3749040"/>
            <a:ext cx="457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71216" y="3749040"/>
            <a:ext cx="457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71216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3749040"/>
            <a:ext cx="457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95344" y="3749040"/>
            <a:ext cx="457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95344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07408" y="3749040"/>
            <a:ext cx="45720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427939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7 ← ................................ → bit 0  (out)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" y="4709160"/>
            <a:ext cx="4041648" cy="0"/>
          </a:xfrm>
          <a:prstGeom prst="line">
            <a:avLst/>
          </a:prstGeom>
          <a:noFill/>
          <a:ln w="1905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22960" y="48006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shift_en: shift right each cycle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53492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 ser_data = shift_reg[0];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169164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78040" y="19842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Generator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37960" y="25603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combinational XOR reduction (^data) checks the number of 1s in p_data. parity_bit selects even (0) or odd (1) parity; parity_en gates the whole feature off when not needed.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37960" y="3794760"/>
            <a:ext cx="484632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3840480"/>
            <a:ext cx="1211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p_data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49540" y="3840480"/>
            <a:ext cx="1211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^data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961120" y="3840480"/>
            <a:ext cx="1211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parity_bit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172700" y="3840480"/>
            <a:ext cx="1211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parity_out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37960" y="4224528"/>
            <a:ext cx="1211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1010_0101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49540" y="4224528"/>
            <a:ext cx="1211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961120" y="4224528"/>
            <a:ext cx="1211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(even)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172700" y="4224528"/>
            <a:ext cx="1211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37960" y="4562856"/>
            <a:ext cx="48463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537960" y="4608576"/>
            <a:ext cx="1211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0011_1100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49540" y="4608576"/>
            <a:ext cx="1211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961120" y="4608576"/>
            <a:ext cx="1211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(odd)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172700" y="4608576"/>
            <a:ext cx="12115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37960" y="5074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design's condition treats parity_bit=0 as even parity and parity_bit=1 as odd parity.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TRANSMITTER — RTL DESIGN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Mux — Building the 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mux is the last stop before tx_out. On every clock the FSM's sel signal chooses which internal source drives the physical wire — this is what actually assembles start, data, parity, and stop bits into one continuous stream.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65836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51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57400" y="2651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driven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651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2'b00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31546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3154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6583680" cy="5029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57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2'b01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(ser_data)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bit stream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2'b10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57400" y="4160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parity_out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4160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bit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6583680" cy="50292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663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2'b11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57400" y="46634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34840" y="4663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bit / IDLE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2651760"/>
            <a:ext cx="1005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26517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69680" y="2834640"/>
            <a:ext cx="822960" cy="0"/>
          </a:xfrm>
          <a:prstGeom prst="line">
            <a:avLst/>
          </a:prstGeom>
          <a:noFill/>
          <a:ln w="12700">
            <a:solidFill>
              <a:srgbClr val="6B72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3218688"/>
            <a:ext cx="1005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32186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869680" y="3401568"/>
            <a:ext cx="822960" cy="0"/>
          </a:xfrm>
          <a:prstGeom prst="line">
            <a:avLst/>
          </a:prstGeom>
          <a:noFill/>
          <a:ln w="12700">
            <a:solidFill>
              <a:srgbClr val="6B72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3785616"/>
            <a:ext cx="1005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378561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parity_out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869680" y="3968496"/>
            <a:ext cx="822960" cy="0"/>
          </a:xfrm>
          <a:prstGeom prst="line">
            <a:avLst/>
          </a:prstGeom>
          <a:noFill/>
          <a:ln w="12700">
            <a:solidFill>
              <a:srgbClr val="6B72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4352544"/>
            <a:ext cx="10058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435254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69680" y="4535424"/>
            <a:ext cx="822960" cy="0"/>
          </a:xfrm>
          <a:prstGeom prst="line">
            <a:avLst/>
          </a:prstGeom>
          <a:noFill/>
          <a:ln w="12700">
            <a:solidFill>
              <a:srgbClr val="6B72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2640" y="2560320"/>
            <a:ext cx="777240" cy="2377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9692640" y="2560320"/>
            <a:ext cx="777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469880" y="3685032"/>
            <a:ext cx="457200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0972800" y="348386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tx_out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01200" y="22402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sel[1:0]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TRANSMITTER — RTL DESIGN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Diagram — One Transmitted Byte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from simulation: p_data = 8'b1010_0101, parity_en = 1, parity_bit = 0 (even) → parity_out = 0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sel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969264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1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517904" y="2331720"/>
            <a:ext cx="96926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233172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87168" y="2331720"/>
            <a:ext cx="969264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1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233172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56432" y="2331720"/>
            <a:ext cx="96926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33172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25696" y="2331720"/>
            <a:ext cx="969264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1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233172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2331720"/>
            <a:ext cx="96926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233172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64224" y="2331720"/>
            <a:ext cx="969264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1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33172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33488" y="2331720"/>
            <a:ext cx="96926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3488" y="233172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302752" y="2331720"/>
            <a:ext cx="969264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1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233172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D7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272016" y="2331720"/>
            <a:ext cx="96926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72016" y="233172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241280" y="2331720"/>
            <a:ext cx="969264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1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33172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tx_out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154680"/>
            <a:ext cx="10661904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4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227832"/>
            <a:ext cx="0" cy="448056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675888"/>
            <a:ext cx="969264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17904" y="3227832"/>
            <a:ext cx="0" cy="448056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17904" y="3227832"/>
            <a:ext cx="969264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87168" y="3227832"/>
            <a:ext cx="0" cy="448056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87168" y="3675888"/>
            <a:ext cx="969264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56432" y="3227832"/>
            <a:ext cx="0" cy="448056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56432" y="3227832"/>
            <a:ext cx="969264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25696" y="3227832"/>
            <a:ext cx="0" cy="448056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25696" y="3675888"/>
            <a:ext cx="969264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94960" y="3675888"/>
            <a:ext cx="969264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64224" y="3227832"/>
            <a:ext cx="0" cy="448056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64224" y="3227832"/>
            <a:ext cx="969264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33488" y="3227832"/>
            <a:ext cx="0" cy="448056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33488" y="3675888"/>
            <a:ext cx="969264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02752" y="3227832"/>
            <a:ext cx="0" cy="448056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02752" y="3227832"/>
            <a:ext cx="969264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72016" y="3227832"/>
            <a:ext cx="0" cy="448056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72016" y="3675888"/>
            <a:ext cx="969264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41280" y="3227832"/>
            <a:ext cx="0" cy="448056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241280" y="3227832"/>
            <a:ext cx="969264" cy="0"/>
          </a:xfrm>
          <a:prstGeom prst="line">
            <a:avLst/>
          </a:prstGeom>
          <a:noFill/>
          <a:ln w="25400">
            <a:solidFill>
              <a:srgbClr val="00D9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76732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517904" y="376732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487168" y="376732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456432" y="376732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425696" y="376732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394960" y="376732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64224" y="376732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33488" y="376732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302752" y="376732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272016" y="376732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241280" y="3767328"/>
            <a:ext cx="969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48640" y="4251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FSM signals are combinational (Mealy-style outputs), sel changes as soon as the state changes, and the mux immediately routes the correct source onto tx_out — producing a clean, glitch-free bitstream.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TRANSMITTER — RTL DESIGN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Testbench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uart_tx_tb.v drives uart_tx_top with a free-running clock and applies five back-to-back byte transfers, waiting on the busy flag between them to confirm the FSM returns to idle correctly.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042416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23160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43000" y="2423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80360" y="24231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parity_en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51960" y="2423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parity_bit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06440" y="24231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862072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286207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1010_0101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80360" y="286207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51960" y="28620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(even)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286207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framed byte w/ even parity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10424160" cy="38404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00984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" y="33009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0011_1100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80360" y="33009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51960" y="33009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(odd)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06440" y="330098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path, odd parity selected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" y="3739896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43000" y="37398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1111_1111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80360" y="373989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51960" y="37398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06440" y="3739896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disabled → skip PARITY state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178808"/>
            <a:ext cx="10424160" cy="38404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178808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3000" y="41788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0101_0101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880360" y="41788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51960" y="41788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(even)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06440" y="4178808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pattern, even parity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" y="4617720"/>
            <a:ext cx="274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3000" y="46177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1100_1100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880360" y="461772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251960" y="4617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06440" y="46177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Back-to-back transfer, no gap tested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5376672"/>
            <a:ext cx="310896" cy="31089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5376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05840" y="533095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asserts the cycle after valid_in — confirms handshake timing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06240" y="5376672"/>
            <a:ext cx="310896" cy="31089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42" name="Text 40"/>
          <p:cNvSpPr/>
          <p:nvPr/>
        </p:nvSpPr>
        <p:spPr>
          <a:xfrm>
            <a:off x="4206240" y="5376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663440" y="533095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tx_out matches expected frame for every vector, incl. parity-disabled path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863840" y="5376672"/>
            <a:ext cx="310896" cy="310896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45" name="Text 43"/>
          <p:cNvSpPr/>
          <p:nvPr/>
        </p:nvSpPr>
        <p:spPr>
          <a:xfrm>
            <a:off x="7863840" y="5376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321040" y="533095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de-asserts exactly at STOP → S0, confirming clean re-idle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TRANSMITTER — RTL DESIGN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ModelSim · uart_tx.vcd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03120" y="2569464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90503" y="2825496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90503" y="2569464"/>
            <a:ext cx="0" cy="256032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7886" y="2569464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7886" y="2569464"/>
            <a:ext cx="0" cy="256032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65269" y="2825496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5269" y="2569464"/>
            <a:ext cx="0" cy="256032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2651" y="2569464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52651" y="2569464"/>
            <a:ext cx="0" cy="256032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0034" y="2825496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40034" y="2569464"/>
            <a:ext cx="0" cy="256032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27417" y="2569464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27417" y="2569464"/>
            <a:ext cx="0" cy="256032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825496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2569464"/>
            <a:ext cx="0" cy="256032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02183" y="2569464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02183" y="2569464"/>
            <a:ext cx="0" cy="256032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9566" y="2825496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9566" y="2569464"/>
            <a:ext cx="0" cy="256032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76949" y="2569464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76949" y="2569464"/>
            <a:ext cx="0" cy="256032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64331" y="2825496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64331" y="2569464"/>
            <a:ext cx="0" cy="256032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51714" y="2569464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51714" y="2569464"/>
            <a:ext cx="0" cy="256032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39097" y="2825496"/>
            <a:ext cx="287383" cy="0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39097" y="2569464"/>
            <a:ext cx="0" cy="256032"/>
          </a:xfrm>
          <a:prstGeom prst="line">
            <a:avLst/>
          </a:prstGeom>
          <a:noFill/>
          <a:ln w="19050">
            <a:solidFill>
              <a:srgbClr val="5A63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3017520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103120" y="3328416"/>
            <a:ext cx="2816352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9472" y="3072384"/>
            <a:ext cx="1207008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3520440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valid_in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103120" y="3831336"/>
            <a:ext cx="2816352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19472" y="3575304"/>
            <a:ext cx="1207008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023360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p_data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103120" y="4334256"/>
            <a:ext cx="2816352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19472" y="4078224"/>
            <a:ext cx="1207008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4526280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103120" y="4581144"/>
            <a:ext cx="2816352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19472" y="4837176"/>
            <a:ext cx="1207008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5029200"/>
            <a:ext cx="1097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tx_out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103120" y="5084064"/>
            <a:ext cx="321869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24989" y="5340096"/>
            <a:ext cx="523037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48026" y="5084064"/>
            <a:ext cx="321869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69894" y="5340096"/>
            <a:ext cx="523037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92931" y="5084064"/>
            <a:ext cx="321869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4800" y="5340096"/>
            <a:ext cx="321869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36669" y="5084064"/>
            <a:ext cx="523037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59706" y="5340096"/>
            <a:ext cx="321869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81574" y="5084064"/>
            <a:ext cx="523037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04611" y="5340096"/>
            <a:ext cx="321869" cy="0"/>
          </a:xfrm>
          <a:prstGeom prst="line">
            <a:avLst/>
          </a:prstGeom>
          <a:noFill/>
          <a:ln w="22225">
            <a:solidFill>
              <a:srgbClr val="00D9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8680" y="5394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capture — full signal trace available in vsim.wlf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90372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903720" y="2240280"/>
            <a:ext cx="274320" cy="274320"/>
          </a:xfrm>
          <a:prstGeom prst="ellipse">
            <a:avLst/>
          </a:prstGeom>
          <a:solidFill>
            <a:srgbClr val="E7ECFA"/>
          </a:solidFill>
          <a:ln/>
        </p:spPr>
      </p:sp>
      <p:sp>
        <p:nvSpPr>
          <p:cNvPr id="60" name="Text 58"/>
          <p:cNvSpPr/>
          <p:nvPr/>
        </p:nvSpPr>
        <p:spPr>
          <a:xfrm>
            <a:off x="690372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315200" y="21945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testbench vectors produced the expected tx_out bitstream, matching hand-computed frames.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903720" y="3108960"/>
            <a:ext cx="274320" cy="274320"/>
          </a:xfrm>
          <a:prstGeom prst="ellipse">
            <a:avLst/>
          </a:prstGeom>
          <a:solidFill>
            <a:srgbClr val="E7ECFA"/>
          </a:solidFill>
          <a:ln/>
        </p:spPr>
      </p:sp>
      <p:sp>
        <p:nvSpPr>
          <p:cNvPr id="63" name="Text 61"/>
          <p:cNvSpPr/>
          <p:nvPr/>
        </p:nvSpPr>
        <p:spPr>
          <a:xfrm>
            <a:off x="690372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15200" y="30632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correctly frames each transfer — asserted from load through STOP, low only when idle.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903720" y="3977640"/>
            <a:ext cx="274320" cy="274320"/>
          </a:xfrm>
          <a:prstGeom prst="ellipse">
            <a:avLst/>
          </a:prstGeom>
          <a:solidFill>
            <a:srgbClr val="E7ECFA"/>
          </a:solidFill>
          <a:ln/>
        </p:spPr>
      </p:sp>
      <p:sp>
        <p:nvSpPr>
          <p:cNvPr id="66" name="Text 64"/>
          <p:cNvSpPr/>
          <p:nvPr/>
        </p:nvSpPr>
        <p:spPr>
          <a:xfrm>
            <a:off x="6903720" y="3977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315200" y="39319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logic verified for both even (parity_bit=0) and odd (parity_bit=1) settings.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903720" y="4846320"/>
            <a:ext cx="274320" cy="274320"/>
          </a:xfrm>
          <a:prstGeom prst="ellipse">
            <a:avLst/>
          </a:prstGeom>
          <a:solidFill>
            <a:srgbClr val="E7ECFA"/>
          </a:solidFill>
          <a:ln/>
        </p:spPr>
      </p:sp>
      <p:sp>
        <p:nvSpPr>
          <p:cNvPr id="69" name="Text 67"/>
          <p:cNvSpPr/>
          <p:nvPr/>
        </p:nvSpPr>
        <p:spPr>
          <a:xfrm>
            <a:off x="6903720" y="4846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315200" y="48006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Disabling parity_en correctly skips the PARITY state, shortening the frame by one bit.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TRANSMITTER — RTL DESIGN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585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concerns: FSM controls, datapath modules execute.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80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sel-driven mux makes the frame format easy to extend or reconfigure.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39312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021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synchronous design with a single always-block FSM core.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Extensions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2395728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2585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matching UART receiver (RX) with baud-rate sampling.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017520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880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baud-rate generator to decouple bit time from clk.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639312"/>
            <a:ext cx="91440" cy="91440"/>
          </a:xfrm>
          <a:prstGeom prst="ellipse">
            <a:avLst/>
          </a:prstGeom>
          <a:solidFill>
            <a:srgbClr val="00D9C0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5021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TX FIFO to queue multiple bytes without stalling.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64240" cy="0"/>
          </a:xfrm>
          <a:prstGeom prst="line">
            <a:avLst/>
          </a:prstGeom>
          <a:noFill/>
          <a:ln w="12700">
            <a:solidFill>
              <a:srgbClr val="323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074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TRANSMITTER — RTL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2026-08-28T23:25:13Z</dcterms:created>
  <dcterms:modified xsi:type="dcterms:W3CDTF">2026-08-28T23:25:13Z</dcterms:modified>
</cp:coreProperties>
</file>